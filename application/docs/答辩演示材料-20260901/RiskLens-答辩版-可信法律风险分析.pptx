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8680665764091" /><Relationship Type="http://schemas.openxmlformats.org/officeDocument/2006/relationships/extended-properties" Target="/docProps/app.xml" Id="R2b7d6e0cc2cc4445" /><Relationship Type="http://schemas.openxmlformats.org/officeDocument/2006/relationships/officeDocument" Target="/ppt/presentation.xml" Id="Rd95367cad560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54206334b4978"/>
  </p:sldMasterIdLst>
  <p:notesMasterIdLst>
    <p:notesMasterId xmlns:r="http://schemas.openxmlformats.org/officeDocument/2006/relationships" r:id="Rbbfeda462cd84e55"/>
  </p:notesMasterIdLst>
  <p:sldIdLst>
    <p:sldId xmlns:r="http://schemas.openxmlformats.org/officeDocument/2006/relationships" id="256" r:id="R2d6fe2da6990474c"/>
    <p:sldId xmlns:r="http://schemas.openxmlformats.org/officeDocument/2006/relationships" id="257" r:id="R3063ad5a927344d5"/>
    <p:sldId xmlns:r="http://schemas.openxmlformats.org/officeDocument/2006/relationships" id="258" r:id="R6aaffab6d4074b31"/>
    <p:sldId xmlns:r="http://schemas.openxmlformats.org/officeDocument/2006/relationships" id="259" r:id="R6bd98256cacf41ce"/>
    <p:sldId xmlns:r="http://schemas.openxmlformats.org/officeDocument/2006/relationships" id="260" r:id="Rf8278932eb4b4039"/>
    <p:sldId xmlns:r="http://schemas.openxmlformats.org/officeDocument/2006/relationships" id="261" r:id="R362336b70bac4471"/>
    <p:sldId xmlns:r="http://schemas.openxmlformats.org/officeDocument/2006/relationships" id="262" r:id="Ree1f323bc1cc482f"/>
    <p:sldId xmlns:r="http://schemas.openxmlformats.org/officeDocument/2006/relationships" id="263" r:id="Ra2b7273d2180463f"/>
    <p:sldId xmlns:r="http://schemas.openxmlformats.org/officeDocument/2006/relationships" id="264" r:id="Reb7113c63a264211"/>
    <p:sldId xmlns:r="http://schemas.openxmlformats.org/officeDocument/2006/relationships" id="265" r:id="Rb1e87a45ad934403"/>
    <p:sldId xmlns:r="http://schemas.openxmlformats.org/officeDocument/2006/relationships" id="266" r:id="R90e634c0b8094d2c"/>
    <p:sldId xmlns:r="http://schemas.openxmlformats.org/officeDocument/2006/relationships" id="267" r:id="R5afe715bd8a944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a9c9ff5434479" /><Relationship Type="http://schemas.openxmlformats.org/officeDocument/2006/relationships/slideMaster" Target="/ppt/slideMasters/slideMaster1.xml" Id="R6b954206334b4978" /><Relationship Type="http://schemas.openxmlformats.org/officeDocument/2006/relationships/notesMaster" Target="/ppt/notesMasters/notesMaster1.xml" Id="Rbbfeda462cd84e55" /><Relationship Type="http://schemas.openxmlformats.org/officeDocument/2006/relationships/presProps" Target="/ppt/presProps.xml" Id="Rea793b652cb1460e" /><Relationship Type="http://schemas.openxmlformats.org/officeDocument/2006/relationships/tableStyles" Target="/ppt/tableStyles.xml" Id="R6760798cb73d44dd" /><Relationship Type="http://schemas.openxmlformats.org/officeDocument/2006/relationships/slide" Target="/ppt/slides/slide1.xml" Id="R2d6fe2da6990474c" /><Relationship Type="http://schemas.openxmlformats.org/officeDocument/2006/relationships/slide" Target="/ppt/slides/slide2.xml" Id="R3063ad5a927344d5" /><Relationship Type="http://schemas.openxmlformats.org/officeDocument/2006/relationships/slide" Target="/ppt/slides/slide3.xml" Id="R6aaffab6d4074b31" /><Relationship Type="http://schemas.openxmlformats.org/officeDocument/2006/relationships/slide" Target="/ppt/slides/slide4.xml" Id="R6bd98256cacf41ce" /><Relationship Type="http://schemas.openxmlformats.org/officeDocument/2006/relationships/slide" Target="/ppt/slides/slide5.xml" Id="Rf8278932eb4b4039" /><Relationship Type="http://schemas.openxmlformats.org/officeDocument/2006/relationships/slide" Target="/ppt/slides/slide6.xml" Id="R362336b70bac4471" /><Relationship Type="http://schemas.openxmlformats.org/officeDocument/2006/relationships/slide" Target="/ppt/slides/slide7.xml" Id="Ree1f323bc1cc482f" /><Relationship Type="http://schemas.openxmlformats.org/officeDocument/2006/relationships/slide" Target="/ppt/slides/slide8.xml" Id="Ra2b7273d2180463f" /><Relationship Type="http://schemas.openxmlformats.org/officeDocument/2006/relationships/slide" Target="/ppt/slides/slide9.xml" Id="Reb7113c63a264211" /><Relationship Type="http://schemas.openxmlformats.org/officeDocument/2006/relationships/slide" Target="/ppt/slides/slide10.xml" Id="Rb1e87a45ad934403" /><Relationship Type="http://schemas.openxmlformats.org/officeDocument/2006/relationships/slide" Target="/ppt/slides/slide11.xml" Id="R90e634c0b8094d2c" /><Relationship Type="http://schemas.openxmlformats.org/officeDocument/2006/relationships/slide" Target="/ppt/slides/slide12.xml" Id="R5afe715bd8a9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5968eef42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9a174abe9f42e4" /><Relationship Type="http://schemas.openxmlformats.org/officeDocument/2006/relationships/notesMaster" Target="/ppt/notesMasters/notesMaster1.xml" Id="Rb45cf104bf0a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c3902dc03447f" /><Relationship Type="http://schemas.openxmlformats.org/officeDocument/2006/relationships/notesMaster" Target="/ppt/notesMasters/notesMaster1.xml" Id="R23c7d8b20b88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faf07ab8374e68" /><Relationship Type="http://schemas.openxmlformats.org/officeDocument/2006/relationships/notesMaster" Target="/ppt/notesMasters/notesMaster1.xml" Id="R537951f785ec4d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c585d8c0b54a7b" /><Relationship Type="http://schemas.openxmlformats.org/officeDocument/2006/relationships/notesMaster" Target="/ppt/notesMasters/notesMaster1.xml" Id="Re6f7c9b2d54c40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0dc9d13eb4644" /><Relationship Type="http://schemas.openxmlformats.org/officeDocument/2006/relationships/notesMaster" Target="/ppt/notesMasters/notesMaster1.xml" Id="R3a4118a4b91c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f192e448594c8b" /><Relationship Type="http://schemas.openxmlformats.org/officeDocument/2006/relationships/notesMaster" Target="/ppt/notesMasters/notesMaster1.xml" Id="R85626f3d66ba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c3e1b9807445f" /><Relationship Type="http://schemas.openxmlformats.org/officeDocument/2006/relationships/notesMaster" Target="/ppt/notesMasters/notesMaster1.xml" Id="R8df92b1c854444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3812a90f74931" /><Relationship Type="http://schemas.openxmlformats.org/officeDocument/2006/relationships/notesMaster" Target="/ppt/notesMasters/notesMaster1.xml" Id="R03d3ff093f6348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66843107241d6" /><Relationship Type="http://schemas.openxmlformats.org/officeDocument/2006/relationships/notesMaster" Target="/ppt/notesMasters/notesMaster1.xml" Id="Rb9c57923192d46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02c0d011574b72" /><Relationship Type="http://schemas.openxmlformats.org/officeDocument/2006/relationships/notesMaster" Target="/ppt/notesMasters/notesMaster1.xml" Id="Rdbf2db47afd74c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254269021c42b9" /><Relationship Type="http://schemas.openxmlformats.org/officeDocument/2006/relationships/notesMaster" Target="/ppt/notesMasters/notesMaster1.xml" Id="Rbb59ba6e283f42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cfd0366f444dd0" /><Relationship Type="http://schemas.openxmlformats.org/officeDocument/2006/relationships/notesMaster" Target="/ppt/notesMasters/notesMaster1.xml" Id="Rd9cd2677d347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开场：我们不把 RiskLens 表述为 AI 律师；它解决的是普通人在合同与纠纷材料面前‘不知道先看什么、依据在哪里’的问题。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RiskLens 产品定位与本地工作台截图。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说明场景收敛：不承诺覆盖所有法律问题，优先覆盖合同签订与日常经济纠纷中可由材料核验支撑的任务。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DESIGN.md；合同工作台设计与测试截图。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真实软件截图：2026-09-01 本地隔离测试环境，演示用户执行租赁合同 V2 核验。截图中的 25 年期限为预置验证条款，不代表真实用户合同。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screenshot: work/forks/legal-lens/verify-screenshots/p0-rental-input-and-summary.png</a:t>
            </a:r>
          </a:p>
          <a:p xmlns:a="http://schemas.openxmlformats.org/drawingml/2006/main">
            <a:r>
              <a:t>- Internal endpoint verification: /api/contract/review, contract-review-v2。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真实软件截图：2026-09-01 本地隔离测试环境，租赁合同 V2 返回结果。演示规则：租赁期限超过二十年；法源为《中华人民共和国民法典》第七百零五条。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screenshot: work/forks/legal-lens/verify-screenshots/p0-rental-rule-evidence.png</a:t>
            </a:r>
          </a:p>
          <a:p xmlns:a="http://schemas.openxmlformats.org/drawingml/2006/main">
            <a:r>
              <a:t>- Civil Code official source: https://gongbao.court.gov.cn/Details/74143ea5b6d1d47f82d6759fc6ef17.html。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技术讲解：当前安全对外链路由 A1、A2、A3 组成。A4 风险评估在尚未建立逐条证据核验时暂停进入对外输出。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work/forks/legal-lens/backend/app/services/agents.py, lines 246–252, 297。</a:t>
            </a:r>
          </a:p>
          <a:p xmlns:a="http://schemas.openxmlformats.org/drawingml/2006/main">
            <a:r>
              <a:t>- Internal diagram: docs/diagrams/04_agents_v2.mmd。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技术架构按职责简化展示。当前安全对外链路采用 A1、A2、A3；A4 风险评估未建立逐条证据核验前暂停进入对外报告。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work/forks/legal-lens/docs/diagrams/03_overview_v2.mmd。</a:t>
            </a:r>
          </a:p>
          <a:p xmlns:a="http://schemas.openxmlformats.org/drawingml/2006/main">
            <a:r>
              <a:t>- Internal: work/forks/legal-lens/backend/app/services/agents.py, lines 246–252, 297。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外部安全背景：NIST 在 2025 年说明间接提示注入可导致 Agent 劫持并采取非预期有害行动；FTC 在 2025 年最终限制 DoNotPay 对 AI 律师可替代专业服务的误导性宣传。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NIST, Technical Blog: Strengthening AI Agent Hijacking Evaluations, 2025-01-17, https://www.nist.gov/news-events/news/2025/01/technical-blog-strengthening-ai-agent-hijacking-evaluations</a:t>
            </a:r>
          </a:p>
          <a:p xmlns:a="http://schemas.openxmlformats.org/drawingml/2006/main">
            <a:r>
              <a:t>- U.S. FTC, DoNotPay case summary, updated 2025-02-11, https://www.ftc.gov/legal-library/browse/cases-proceedings/donotpay</a:t>
            </a:r>
          </a:p>
          <a:p xmlns:a="http://schemas.openxmlformats.org/drawingml/2006/main">
            <a:r>
              <a:t>- Internal: outputs/RiskLens-完整工作汇报与项目交接-20260827.md, 5.4。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竞品页表达原则：不做未经证实的性能排名。豆包仅作为通用对话式大模型的例子；律师与检索软件分别承担不同角色。RiskLens 的差异是项目已实现的材料核验、来源回链与边界交接流程。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DESIGN.md；agents.py；产品截图与架构图。</a:t>
            </a:r>
          </a:p>
          <a:p xmlns:a="http://schemas.openxmlformats.org/drawingml/2006/main">
            <a:r>
              <a:t>- U.S. FTC DoNotPay case demonstrates why不应宣称 AI 可替代专业服务。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这页讲真实问题及已采取的策略：不把工程受控基准、种子案例或未完成盲测包装成用户场景准确率。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outputs/RiskLens-完整工作汇报与项目交接-20260827.md, 5.3–6.3, 11, 18。</a:t>
            </a:r>
          </a:p>
          <a:p xmlns:a="http://schemas.openxmlformats.org/drawingml/2006/main">
            <a:r>
              <a:t>- Internal: outputs/risklens-repair-report.md, 37–42。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评委建议原意由用户提供。本页逐条对应为已有与规划中的工程措施。裁判文书盲测尚无结果，后续页只展示设计。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jury feedback, 2026-08-31。</a:t>
            </a:r>
          </a:p>
          <a:p xmlns:a="http://schemas.openxmlformats.org/drawingml/2006/main">
            <a:r>
              <a:t>- Internal: outputs/RiskLens-完整工作汇报与项目交接-20260827.md, 6.3。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盲测状态必须如实说明：尚未执行、没有结果。该方法参考内部第三方可信验证流程，法院公开案例仅作为标准答案来源，不表示法院为产品背书。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outputs/RiskLens-完整工作汇报与项目交接-20260827.md, 6.3。</a:t>
            </a:r>
          </a:p>
          <a:p xmlns:a="http://schemas.openxmlformats.org/drawingml/2006/main">
            <a:r>
              <a:t>- China Judgements Online: https://wenshu.court.gov.cn/ (公开案例查询平台；不可视为产品背书)。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结尾：RiskLens 不取代律师，而是将普通用户在合同和纠纷中的第一步——材料核验、依据定位、风险提示与专业交接——变成一条可检查的路径。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产品工作台、架构与交接材料。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f726a6836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118b1abf934060" /><Relationship Type="http://schemas.openxmlformats.org/officeDocument/2006/relationships/slideLayout" Target="/ppt/slideLayouts/slideLayout1.xml" Id="R8ee5ac76e9bd4f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5ac76e9bd4f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9e8eace34c81" /><Relationship Type="http://schemas.openxmlformats.org/officeDocument/2006/relationships/notesSlide" Target="/ppt/notesSlides/notesSlide1.xml" Id="Rdeefc61897ab47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7f5b1e66b4b96" /><Relationship Type="http://schemas.openxmlformats.org/officeDocument/2006/relationships/notesSlide" Target="/ppt/notesSlides/notesSlide2.xml" Id="Rbed1b3b1e7be4f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24a98a74b4514" /><Relationship Type="http://schemas.openxmlformats.org/officeDocument/2006/relationships/image" Target="/ppt/media/image.jpeg" Id="Rb443d18ec7e74d34" /><Relationship Type="http://schemas.openxmlformats.org/officeDocument/2006/relationships/notesSlide" Target="/ppt/notesSlides/notesSlide3.xml" Id="R2b125a7592fa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58d0d35cb4bad" /><Relationship Type="http://schemas.openxmlformats.org/officeDocument/2006/relationships/image" Target="/ppt/media/image2.jpeg" Id="R8f9398ff479d4385" /><Relationship Type="http://schemas.openxmlformats.org/officeDocument/2006/relationships/notesSlide" Target="/ppt/notesSlides/notesSlide4.xml" Id="Rc27c4ec9394147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1dadfa8ec4326" /><Relationship Type="http://schemas.openxmlformats.org/officeDocument/2006/relationships/notesSlide" Target="/ppt/notesSlides/notesSlide5.xml" Id="R03589851b263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987e28cc408c" /><Relationship Type="http://schemas.openxmlformats.org/officeDocument/2006/relationships/notesSlide" Target="/ppt/notesSlides/notesSlide6.xml" Id="R4a1ea3ba639b47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04bdf87cb487e" /><Relationship Type="http://schemas.openxmlformats.org/officeDocument/2006/relationships/notesSlide" Target="/ppt/notesSlides/notesSlide7.xml" Id="Re85c9e01ad04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6a232342e4a2c" /><Relationship Type="http://schemas.openxmlformats.org/officeDocument/2006/relationships/notesSlide" Target="/ppt/notesSlides/notesSlide8.xml" Id="R09ce135b540b4d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a6829bc11472e" /><Relationship Type="http://schemas.openxmlformats.org/officeDocument/2006/relationships/notesSlide" Target="/ppt/notesSlides/notesSlide9.xml" Id="R33a14c7f03fe44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d271b6dd34f89" /><Relationship Type="http://schemas.openxmlformats.org/officeDocument/2006/relationships/notesSlide" Target="/ppt/notesSlides/notesSlide10.xml" Id="Rd0c16c456c0643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829519edb4434" /><Relationship Type="http://schemas.openxmlformats.org/officeDocument/2006/relationships/notesSlide" Target="/ppt/notesSlides/notesSlide11.xml" Id="Rfef0016d7e784f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f17b334194b13" /><Relationship Type="http://schemas.openxmlformats.org/officeDocument/2006/relationships/notesSlide" Target="/ppt/notesSlides/notesSlide12.xml" Id="R42d4e9ec23dd45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D24BD-8558-471B-8A14-8A31C90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3208A-FB07-4F56-88EF-4093EF6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59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71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C9389-8C66-4B73-9E1E-5D76CE09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GOAI 无界应用｜答辩展示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170C7-75C9-4D14-964F-260ABEB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金睛 RiskLens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AEE88-BF70-47A1-87BA-0E2C935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DFF0E8"/>
                </a:solidFill>
              </a:defRPr>
            </a:pPr>
            <a:r>
              <a:rPr sz="3375" b="1">
                <a:solidFill>
                  <a:srgbClr val="DFF0E8"/>
                </a:solidFill>
              </a:rPr>
              <a:t>让不懂法律的人</a:t>
            </a:r>
          </a:p>
          <a:p xmlns:a="http://schemas.openxmlformats.org/drawingml/2006/main">
            <a:pPr>
              <a:defRPr sz="3375" b="1">
                <a:solidFill>
                  <a:srgbClr val="DFF0E8"/>
                </a:solidFill>
              </a:defRPr>
            </a:pPr>
            <a:r>
              <a:rPr sz="3375" b="1">
                <a:solidFill>
                  <a:srgbClr val="DFF0E8"/>
                </a:solidFill>
              </a:rPr>
              <a:t>看见风险，也看见依据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44D4D-F0C9-4E3E-866A-59437CD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1AF50-25A3-4F03-A441-B6A9827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6D5CB"/>
                </a:solidFill>
              </a:defRPr>
            </a:pPr>
            <a:r>
              <a:rPr sz="1500">
                <a:solidFill>
                  <a:srgbClr val="B6D5CB"/>
                </a:solidFill>
              </a:rPr>
              <a:t>租赁合同 · 买卖／消费合同 · 经济纠纷材料梳理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FF469-C99D-470D-A906-2134C200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19300"/>
            <a:ext cx="2476500" cy="27241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4E43"/>
          </a:solidFill>
          <a:ln xmlns:a="http://schemas.openxmlformats.org/drawingml/2006/main" w="9525">
            <a:solidFill>
              <a:srgbClr val="3577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AFB4B-4499-4AF9-93FC-2AA638EC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19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C65B"/>
                </a:solidFill>
              </a:defRPr>
            </a:pPr>
            <a:r>
              <a:rPr sz="2025" b="1">
                <a:solidFill>
                  <a:srgbClr val="F4C65B"/>
                </a:solidFill>
              </a:rPr>
              <a:t>有来源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C121A-F5F6-43E1-8DB6-8A046E73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24175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CC22E-697F-4CA9-8FDF-3107843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24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有边界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0C0ED-384F-4050-9FB7-280389B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29025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C197D-F324-40B1-9FAA-2B0B3E50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290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C65B"/>
                </a:solidFill>
              </a:defRPr>
            </a:pPr>
            <a:r>
              <a:rPr sz="2025" b="1">
                <a:solidFill>
                  <a:srgbClr val="F4C65B"/>
                </a:solidFill>
              </a:rPr>
              <a:t>可核验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7D57-5AAA-4B6B-AAA8-50D2BDEF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B6A9"/>
                </a:solidFill>
              </a:defRPr>
            </a:pPr>
            <a:r>
              <a:rPr sz="900">
                <a:solidFill>
                  <a:srgbClr val="8AB6A9"/>
                </a:solidFill>
              </a:rPr>
              <a:t>聚焦普通个人的可信法律风险分析</a:t>
            </a:r>
          </a:p>
        </p:txBody>
      </p:sp>
    </p:spTree>
    <p:extLst>
      <p:ext uri="{BB962C8B-B14F-4D97-AF65-F5344CB8AC3E}">
        <p14:creationId xmlns:p14="http://schemas.microsoft.com/office/powerpoint/2010/main" val="1591360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B6248-7885-41AA-84CD-B9762990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0FD3-7090-4559-AC3E-8BA42C0E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普通个人需要的不是一段答案，而是一条可核验的处理路径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85F80-F45E-4CA4-8736-3F41D069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以租赁、买卖／消费与一般经济纠纷为优先场景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085DB-45BE-4146-ACBD-69E217C5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CE3CC-D00A-4653-B018-1B3E44C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F84AD-8B1A-4453-A318-BFCE769B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BD80-CB84-49DF-80FD-C7A4F62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A9BA0-7C92-4E27-BBC2-A85FDAA9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7D6B"/>
                </a:solidFill>
              </a:defRPr>
            </a:pPr>
            <a:r>
              <a:rPr sz="1125" b="1">
                <a:solidFill>
                  <a:srgbClr val="2E7D6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3724A-B032-4879-80FD-5571450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35"/>
                </a:solidFill>
              </a:defRPr>
            </a:pPr>
            <a:r>
              <a:rPr sz="2100" b="1">
                <a:solidFill>
                  <a:srgbClr val="123B35"/>
                </a:solidFill>
              </a:rPr>
              <a:t>租房签约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804E6-498D-4C78-8655-C9634B86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押金、维修、提前退租、违约条款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44F9B-2FE3-4D89-AA6C-B17BFEB3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C7EA-2128-461F-AD9E-234768C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7D6B"/>
                </a:solidFill>
              </a:defRPr>
            </a:pPr>
            <a:r>
              <a:rPr sz="1125" b="1">
                <a:solidFill>
                  <a:srgbClr val="2E7D6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214B8-47B3-4E67-A373-4CC40197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35"/>
                </a:solidFill>
              </a:defRPr>
            </a:pPr>
            <a:r>
              <a:rPr sz="2100" b="1">
                <a:solidFill>
                  <a:srgbClr val="123B35"/>
                </a:solidFill>
              </a:rPr>
              <a:t>买卖／消费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3F84A-2EED-45A9-A5E4-973A40E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7667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履约、退款、质量争议、责任划分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29910-2E1F-42C3-A88A-A2783EC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7C373-7E74-48E5-9E6D-C511390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05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8500"/>
                </a:solidFill>
              </a:defRPr>
            </a:pPr>
            <a:r>
              <a:rPr sz="1125" b="1">
                <a:solidFill>
                  <a:srgbClr val="E4850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DBC74-AE36-4BDC-A4E8-CA9EC1B7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35"/>
                </a:solidFill>
              </a:defRPr>
            </a:pPr>
            <a:r>
              <a:rPr sz="2100" b="1">
                <a:solidFill>
                  <a:srgbClr val="123B35"/>
                </a:solidFill>
              </a:rPr>
              <a:t>发生纠纷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14B04-198A-44B9-A300-85E1939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7667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事实材料、证据要素与专业分流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A590A-706D-4640-8BDF-AAA7747F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D5E6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DCEE6-6F9A-494E-A2F8-F09274A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73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4C"/>
                </a:solidFill>
              </a:defRPr>
            </a:pPr>
            <a:r>
              <a:rPr sz="1350" b="1">
                <a:solidFill>
                  <a:srgbClr val="07594C"/>
                </a:solidFill>
              </a:rPr>
              <a:t>核心判断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13B0C-3578-4874-8041-DA68E9E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673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35"/>
                </a:solidFill>
              </a:defRPr>
            </a:pPr>
            <a:r>
              <a:rPr sz="1500" b="1">
                <a:solidFill>
                  <a:srgbClr val="123B35"/>
                </a:solidFill>
              </a:rPr>
              <a:t>从材料进入，到风险提示、依据定位和需要补充的要素，形成可回看的闭环。</a:t>
            </a:r>
          </a:p>
        </p:txBody>
      </p:sp>
    </p:spTree>
    <p:extLst>
      <p:ext uri="{BB962C8B-B14F-4D97-AF65-F5344CB8AC3E}">
        <p14:creationId xmlns:p14="http://schemas.microsoft.com/office/powerpoint/2010/main" val="1550703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09A46-FB68-40AF-82A2-7C4955C7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0C8A7-593D-4F7E-938B-5A7DCD2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场景解析：把一份租房合同，变成可核对的风险清单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73739-0136-43AE-B5FD-72BDC00F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本地演示合同包含“租赁期限为 25 年”的可验证条款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DEBA-402C-4C66-864F-210D765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0D003-7BF2-442C-8BB4-41490916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349C8-0AFF-47D4-95A2-838F5C23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03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3d18ec7e74d34"/>
          <a:srcRect xmlns:a="http://schemas.openxmlformats.org/drawingml/2006/main" l="8214" t="0" r="8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860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EBEEE-D22C-427A-B521-5860D14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5429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58F4-319C-450A-BD1A-BC05B4C5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C5249-CAC3-46D8-AA42-BF9E4FD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E36"/>
                </a:solidFill>
              </a:defRPr>
            </a:pPr>
            <a:r>
              <a:rPr sz="900" b="1">
                <a:solidFill>
                  <a:srgbClr val="063E36"/>
                </a:solidFill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3189D-A7B2-4102-9ADA-554E918B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B35"/>
                </a:solidFill>
              </a:defRPr>
            </a:pPr>
            <a:r>
              <a:rPr sz="1800" b="1">
                <a:solidFill>
                  <a:srgbClr val="123B35"/>
                </a:solidFill>
              </a:rPr>
              <a:t>用户选择租赁合同并粘贴全文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C09E9-5F72-4B5E-BE66-D4A5CCD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系统读取合同类型、文本事实与缺失要素；无法由文本确认的事实不补全。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F86D9-F0AC-4A5F-A6E0-B30E7D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2B15D-16A6-46F4-89FD-FA88EAD6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C9D66-C596-416D-A1FA-0672365A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815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E4995-90DC-48A8-A533-DC92617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625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先把“原文里有什么、需要核对什么”说明白。</a:t>
            </a:r>
          </a:p>
        </p:txBody>
      </p:sp>
    </p:spTree>
    <p:extLst>
      <p:ext uri="{BB962C8B-B14F-4D97-AF65-F5344CB8AC3E}">
        <p14:creationId xmlns:p14="http://schemas.microsoft.com/office/powerpoint/2010/main" val="1253626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CFDB1-E6AE-4890-A64D-C6469F9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322BA-E102-484E-811B-1EA64C1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结果交付：每一项提示都回到原文与法源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50F29-11EB-4426-A2C4-C68C3CA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DED7"/>
                </a:solidFill>
              </a:defRPr>
            </a:pPr>
            <a:r>
              <a:rPr sz="1350">
                <a:solidFill>
                  <a:srgbClr val="C9DED7"/>
                </a:solidFill>
              </a:rPr>
              <a:t>本地真实结果展示原文、规则、法条条文与官方链接；不输出最终法律结论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724A3-02B0-4BA4-B5D8-73925833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A95B9-2FC6-4039-8754-C1271C4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CABE"/>
                </a:solidFill>
              </a:defRPr>
            </a:pPr>
            <a:r>
              <a:rPr sz="750">
                <a:solidFill>
                  <a:srgbClr val="A7CAB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25EEE-4501-4816-A05C-84FAF0AC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C65B"/>
                </a:solidFill>
              </a:defRPr>
            </a:pPr>
            <a:r>
              <a:rPr sz="900" b="1">
                <a:solidFill>
                  <a:srgbClr val="F4C65B"/>
                </a:solidFill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398ff479d4385"/>
          <a:srcRect xmlns:a="http://schemas.openxmlformats.org/drawingml/2006/main" l="4196" t="0" r="41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86000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15040-8916-430E-A039-604399CA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65B"/>
                </a:solidFill>
              </a:defRPr>
            </a:pPr>
            <a:r>
              <a:rPr sz="1125" b="1">
                <a:solidFill>
                  <a:srgbClr val="F4C65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FD810-E581-458B-B34A-7354F639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193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定位原文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EE3F0-48A5-4CF2-9171-7D044CAD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E4DD"/>
                </a:solidFill>
              </a:defRPr>
            </a:pPr>
            <a:r>
              <a:rPr sz="1200">
                <a:solidFill>
                  <a:srgbClr val="D1E4DD"/>
                </a:solidFill>
              </a:rPr>
              <a:t>命中的风险规则保留合同中的原始文字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87A6E-6436-4CCE-9DBA-FA1F3053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9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C1E1-86F5-4BCA-B5ED-476B89CF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65B"/>
                </a:solidFill>
              </a:defRPr>
            </a:pPr>
            <a:r>
              <a:rPr sz="1125" b="1">
                <a:solidFill>
                  <a:srgbClr val="F4C65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FBFA9-B2E6-42C3-9D2F-9BDEAA6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法源回链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2C8F8-8AD3-41CC-9D4C-B221B8EF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E4DD"/>
                </a:solidFill>
              </a:defRPr>
            </a:pPr>
            <a:r>
              <a:rPr sz="1200">
                <a:solidFill>
                  <a:srgbClr val="D1E4DD"/>
                </a:solidFill>
              </a:rPr>
              <a:t>展示《民法典》第七百零五条及官方法源入口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F28AE-A184-4ADA-90B1-38EEFEA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9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397DD-C00D-4A30-89B6-57617AF3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C65B"/>
                </a:solidFill>
              </a:defRPr>
            </a:pPr>
            <a:r>
              <a:rPr sz="1125" b="1">
                <a:solidFill>
                  <a:srgbClr val="F4C65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1BF67-4924-4B31-88B9-B45D2EF5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标识边界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5ECC0-17D0-4093-94B3-5031F54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1E4DD"/>
                </a:solidFill>
              </a:defRPr>
            </a:pPr>
            <a:r>
              <a:rPr sz="1200">
                <a:solidFill>
                  <a:srgbClr val="D1E4DD"/>
                </a:solidFill>
              </a:rPr>
              <a:t>缺失条款单独列出，不把未知事实当成结论</a:t>
            </a:r>
          </a:p>
        </p:txBody>
      </p:sp>
    </p:spTree>
    <p:extLst>
      <p:ext uri="{BB962C8B-B14F-4D97-AF65-F5344CB8AC3E}">
        <p14:creationId xmlns:p14="http://schemas.microsoft.com/office/powerpoint/2010/main" val="138639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BF3AA4-F0F6-4722-A175-292237AF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CE5CA-2E89-4AB3-8482-59C488C9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可信推理不是一次生成，而是“检索—分析—核验—过滤”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DCCB7-4157-47D6-97AB-1FF49C8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DED7"/>
                </a:solidFill>
              </a:defRPr>
            </a:pPr>
            <a:r>
              <a:rPr sz="1350">
                <a:solidFill>
                  <a:srgbClr val="C9DED7"/>
                </a:solidFill>
              </a:rPr>
              <a:t>评委建议一：把法律“参考”的边界和来源链完整展示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62525-1152-4816-AB51-4A87ABA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9F046-A165-4802-8772-FF01D62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CABE"/>
                </a:solidFill>
              </a:defRPr>
            </a:pPr>
            <a:r>
              <a:rPr sz="750">
                <a:solidFill>
                  <a:srgbClr val="A7CAB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9DB09-3B3F-4EAA-B42B-9F39C3D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C65B"/>
                </a:solidFill>
              </a:defRPr>
            </a:pPr>
            <a:r>
              <a:rPr sz="900" b="1">
                <a:solidFill>
                  <a:srgbClr val="F4C65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9091D-6D0E-469E-99CD-6B8F7136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F7FB-BA0C-491A-B610-916A63E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38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受控检索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57C52-315C-4DA9-9523-8C66886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E8E0"/>
                </a:solidFill>
              </a:defRPr>
            </a:pPr>
            <a:r>
              <a:rPr sz="1200">
                <a:solidFill>
                  <a:srgbClr val="D4E8E0"/>
                </a:solidFill>
              </a:rPr>
              <a:t>从授权材料与受控知识源取回候选依据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C5AD6-3555-4025-A50D-9818607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6CF57-91CD-4994-8D17-5497A068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5D4A-EAB1-4498-88C9-56C4D969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24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焦点识别 A1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29E03-743D-41BE-9F62-51E1544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E8E0"/>
                </a:solidFill>
              </a:defRPr>
            </a:pPr>
            <a:r>
              <a:rPr sz="1200">
                <a:solidFill>
                  <a:srgbClr val="D4E8E0"/>
                </a:solidFill>
              </a:rPr>
              <a:t>识别争议焦点与需要核对的事实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E8616-133F-4203-9262-1034917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7F61-96BE-490E-980C-9C0CAD0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18DA6-A8DA-4B00-B232-5FBADF5A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9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法律分析 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2257E-B8B9-400E-9E70-F57084BA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E8E0"/>
                </a:solidFill>
              </a:defRPr>
            </a:pPr>
            <a:r>
              <a:rPr sz="1200">
                <a:solidFill>
                  <a:srgbClr val="D4E8E0"/>
                </a:solidFill>
              </a:rPr>
              <a:t>基于焦点和候选依据生成分析草案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8794A-4ED5-49DB-9965-B5F3F90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C7E70-CC56-441F-A25A-A6C0D6F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59B17-A51D-49E8-9734-3926905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957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引用核验 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CCCB2-542C-4328-A338-B86372BC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E8E0"/>
                </a:solidFill>
              </a:defRPr>
            </a:pPr>
            <a:r>
              <a:rPr sz="1200">
                <a:solidFill>
                  <a:srgbClr val="D4E8E0"/>
                </a:solidFill>
              </a:rPr>
              <a:t>逐项核对引用是否能在召回材料中定位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5E644-05D0-471E-9E1C-49C1DFAF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3F9A3-AF08-43A0-8A3D-4B4A6DF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CEE5C-26D4-4EB2-98ED-7972341B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整合输出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A2899-81C7-41BD-88D8-8BAAAC6A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10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E8E0"/>
                </a:solidFill>
              </a:defRPr>
            </a:pPr>
            <a:r>
              <a:rPr sz="1200">
                <a:solidFill>
                  <a:srgbClr val="D4E8E0"/>
                </a:solidFill>
              </a:rPr>
              <a:t>剔除未通过引用，呈现依据与核验摘要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41D14-9236-4B28-B8F0-E46297BC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C4012-D0F0-42B8-9B3B-C8202D7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C65B"/>
                </a:solidFill>
              </a:defRPr>
            </a:pPr>
            <a:r>
              <a:rPr sz="1800" b="1">
                <a:solidFill>
                  <a:srgbClr val="F4C65B"/>
                </a:solidFill>
              </a:rPr>
              <a:t>未通过引用核验的内容，不作为对外结果。</a:t>
            </a:r>
          </a:p>
        </p:txBody>
      </p:sp>
    </p:spTree>
    <p:extLst>
      <p:ext uri="{BB962C8B-B14F-4D97-AF65-F5344CB8AC3E}">
        <p14:creationId xmlns:p14="http://schemas.microsoft.com/office/powerpoint/2010/main" val="1709070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93BC11-42E5-412A-81E5-43359FE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969D5-D36A-4D04-B199-CCFCF2B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技术架构服务于三件事：找得到、说得清、查得回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6F60A-4A40-4208-8BC4-46E786C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前端工作台 + FastAPI + 检索与规则 + Agent 核验 + 账号隔离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E8E9B-3403-44A5-8A9E-3FE7EC92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A861D-34F8-40FD-ADFF-65F40C5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C2D47-CDDA-498C-B43D-D1A221F5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0A13B-D052-4DB2-92FA-BF16141B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247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913BD-AF0A-4561-BDC2-23708F8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3C1DB-4735-4275-875E-A28D598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35"/>
                </a:solidFill>
              </a:defRPr>
            </a:pPr>
            <a:r>
              <a:rPr sz="1650" b="1">
                <a:solidFill>
                  <a:srgbClr val="123B35"/>
                </a:solidFill>
              </a:rPr>
              <a:t>用户工作台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05173-1908-415F-86FF-CDDB704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884FE-3D9D-44AF-9F16-8B27DCAD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46E"/>
                </a:solidFill>
              </a:defRPr>
            </a:pPr>
            <a:r>
              <a:rPr sz="1125">
                <a:solidFill>
                  <a:srgbClr val="5F746E"/>
                </a:solidFill>
              </a:rPr>
              <a:t>合同上传 · 场景说明 · 核验报告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4D038-C5C9-4640-B50A-29CE89B0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62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8500"/>
                </a:solidFill>
              </a:defRPr>
            </a:pPr>
            <a:r>
              <a:rPr sz="1875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DCC45-9855-4866-91F7-9C38440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2247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6C047-5973-4B76-AFC1-8DF8A0F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6B"/>
                </a:solidFill>
              </a:defRPr>
            </a:pPr>
            <a:r>
              <a:rPr sz="1050" b="1">
                <a:solidFill>
                  <a:srgbClr val="2E7D6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1AD78-7B1A-4C09-9EB8-C5B0FFE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76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35"/>
                </a:solidFill>
              </a:defRPr>
            </a:pPr>
            <a:r>
              <a:rPr sz="1650" b="1">
                <a:solidFill>
                  <a:srgbClr val="123B35"/>
                </a:solidFill>
              </a:rPr>
              <a:t>服务编排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9315E-1227-4D11-A261-769A61FF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2A84-5092-4BEC-A1A1-B1065354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43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46E"/>
                </a:solidFill>
              </a:defRPr>
            </a:pPr>
            <a:r>
              <a:rPr sz="1125">
                <a:solidFill>
                  <a:srgbClr val="5F746E"/>
                </a:solidFill>
              </a:rPr>
              <a:t>FastAPI · Pydantic · 任务状态与接口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64A46-97D4-4FF0-AE71-4D53922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62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8500"/>
                </a:solidFill>
              </a:defRPr>
            </a:pPr>
            <a:r>
              <a:rPr sz="1875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6FEA9-98AD-48AA-A345-B4391AC9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2247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6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5EA18-5070-4E37-AB74-3B18B67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661C9-92D4-494D-B2C9-057192F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35"/>
                </a:solidFill>
              </a:defRPr>
            </a:pPr>
            <a:r>
              <a:rPr sz="1650" b="1">
                <a:solidFill>
                  <a:srgbClr val="123B35"/>
                </a:solidFill>
              </a:rPr>
              <a:t>知识与规则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08273-2556-4EDA-95F9-A7EF5D99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E1129-FE45-4CF1-B4D4-F81AEF76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46E"/>
                </a:solidFill>
              </a:defRPr>
            </a:pPr>
            <a:r>
              <a:rPr sz="1125">
                <a:solidFill>
                  <a:srgbClr val="5F746E"/>
                </a:solidFill>
              </a:rPr>
              <a:t>BGE 向量化 · Qdrant 检索 · 规则引擎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EA63C-B8F1-43A5-9F66-688C9283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62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8500"/>
                </a:solidFill>
              </a:defRPr>
            </a:pPr>
            <a:r>
              <a:rPr sz="1875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14CCD-EFCD-4586-8DF4-02C6699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247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4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CDD57-B2FC-4D08-8405-999ABEF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8500"/>
                </a:solidFill>
              </a:defRPr>
            </a:pPr>
            <a:r>
              <a:rPr sz="1050" b="1">
                <a:solidFill>
                  <a:srgbClr val="E48500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0CB29-2111-443B-A048-BCB9534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35"/>
                </a:solidFill>
              </a:defRPr>
            </a:pPr>
            <a:r>
              <a:rPr sz="1650" b="1">
                <a:solidFill>
                  <a:srgbClr val="123B35"/>
                </a:solidFill>
              </a:rPr>
              <a:t>Agent 与安全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F4BA7-068E-4358-82D1-8141B99C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C7B37-A3CC-4C74-9FE7-8A6348F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46E"/>
                </a:solidFill>
              </a:defRPr>
            </a:pPr>
            <a:r>
              <a:rPr sz="1125">
                <a:solidFill>
                  <a:srgbClr val="5F746E"/>
                </a:solidFill>
              </a:rPr>
              <a:t>A1 焦点 · A2 分析 · A3 核验 · JWT 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32C4B-03F1-49DF-ABC8-F208AA2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6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F9D9F-8729-4C56-8D03-5205DA6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C65B"/>
                </a:solidFill>
              </a:defRPr>
            </a:pPr>
            <a:r>
              <a:rPr sz="1650" b="1">
                <a:solidFill>
                  <a:srgbClr val="F4C65B"/>
                </a:solidFill>
              </a:rPr>
              <a:t>A4 风险评估在逐条证据核验完成前，不进入对外报告。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E11DE-9F54-467C-B668-3C78A6A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86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4E8E0"/>
                </a:solidFill>
              </a:defRPr>
            </a:pPr>
            <a:r>
              <a:rPr sz="1125">
                <a:solidFill>
                  <a:srgbClr val="D4E8E0"/>
                </a:solidFill>
              </a:rPr>
              <a:t>防止未经证实的建议越界。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734C7-C7C1-4C33-AEE8-E9801BC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627A17-ADE0-45DD-85FD-05F9585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技术架构服务于三件事：找得到、说得清、查得回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6E8FD-BC14-453B-94CA-C235C777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前端工作台 + FastAPI + 检索与规则 + Agent 核验 + 账号隔离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DDEB7C-0431-4689-9236-5078BF4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5555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7C23D-036B-413C-BAB8-E1F80801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B0671-AB3B-4D83-A956-FB98369A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安全不是附加功能：它决定法律类 AI 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7DF3A-D2C0-48DE-90E1-A5EF3D31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美国 2025 年的监管与技术信号，说明‘会回答’远远不够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70BB-5281-42E2-9F0E-134AFD25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13CC9-2372-4A62-9D2A-DF25220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CDA08-8549-4F39-A101-4FEF34BE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AF1C5-C966-4E55-8FBD-E611344B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FD991-08E9-4043-9C50-C5582259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输入与材料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F26D4-A845-4F04-B90A-717B006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746E"/>
                </a:solidFill>
              </a:defRPr>
            </a:pPr>
            <a:r>
              <a:rPr sz="1200">
                <a:solidFill>
                  <a:srgbClr val="5F746E"/>
                </a:solidFill>
              </a:rPr>
              <a:t>将用户上传内容视为不可信数据，避免材料中的指令越权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67A5B-C0EB-4E02-91B4-AE6331BF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B"/>
                </a:solidFill>
              </a:defRPr>
            </a:pPr>
            <a:r>
              <a:rPr sz="1200" b="1">
                <a:solidFill>
                  <a:srgbClr val="2E7D6B"/>
                </a:solidFill>
              </a:rPr>
              <a:t>提示注入／Agent 劫持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B1C26-2FC1-4896-A646-372CCB3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0C339-0EF4-4416-8B41-3EAAF194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依据与输出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EDAD3-7FEA-4912-A6C7-19B257B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746E"/>
                </a:solidFill>
              </a:defRPr>
            </a:pPr>
            <a:r>
              <a:rPr sz="1200">
                <a:solidFill>
                  <a:srgbClr val="5F746E"/>
                </a:solidFill>
              </a:rPr>
              <a:t>引用逐项核验；无法定位来源的内容不进入交付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F15ED-1FF6-492A-AAF0-57EDD09C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B"/>
                </a:solidFill>
              </a:defRPr>
            </a:pPr>
            <a:r>
              <a:rPr sz="1200" b="1">
                <a:solidFill>
                  <a:srgbClr val="2E7D6B"/>
                </a:solidFill>
              </a:rPr>
              <a:t>幻觉与错误引用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88E9C-D355-4D19-AD33-0AC46AF6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E0AF1-BD28-4C5B-9210-B2FCE606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账号与数据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3222F-3658-4793-B78F-2D9D2ABD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746E"/>
                </a:solidFill>
              </a:defRPr>
            </a:pPr>
            <a:r>
              <a:rPr sz="1200">
                <a:solidFill>
                  <a:srgbClr val="5F746E"/>
                </a:solidFill>
              </a:rPr>
              <a:t>按用户授权访问私有材料；最小化处理、支持删除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22A3D-1E7C-438D-A142-0131AFA9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B"/>
                </a:solidFill>
              </a:defRPr>
            </a:pPr>
            <a:r>
              <a:rPr sz="1200" b="1">
                <a:solidFill>
                  <a:srgbClr val="2E7D6B"/>
                </a:solidFill>
              </a:rPr>
              <a:t>数据暴露与越权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7D61E-901D-44A3-9927-B1F1902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5189-3C02-4E88-89BC-E5035DE2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产品表述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AC0A0-1A35-4FA1-A1E5-2DA8738F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746E"/>
                </a:solidFill>
              </a:defRPr>
            </a:pPr>
            <a:r>
              <a:rPr sz="1200">
                <a:solidFill>
                  <a:srgbClr val="5F746E"/>
                </a:solidFill>
              </a:rPr>
              <a:t>风险参考不替代律师、法院、授信或理赔机构结论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5B2DF-0280-44F5-A280-7CF04ED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57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8500"/>
                </a:solidFill>
              </a:defRPr>
            </a:pPr>
            <a:r>
              <a:rPr sz="1200" b="1">
                <a:solidFill>
                  <a:srgbClr val="E48500"/>
                </a:solidFill>
              </a:rPr>
              <a:t>夸大能力与误导使用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945CE-FD12-4ADE-B22D-2CE49C7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C0FDA-D633-43BD-85AB-97E8DE5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65B"/>
                </a:solidFill>
              </a:defRPr>
            </a:pPr>
            <a:r>
              <a:rPr sz="1350" b="1">
                <a:solidFill>
                  <a:srgbClr val="F4C65B"/>
                </a:solidFill>
              </a:rPr>
              <a:t>可信不是一句免责声明，而是输入、检索、输出和权限都能被检查。</a:t>
            </a:r>
          </a:p>
        </p:txBody>
      </p:sp>
    </p:spTree>
    <p:extLst>
      <p:ext uri="{BB962C8B-B14F-4D97-AF65-F5344CB8AC3E}">
        <p14:creationId xmlns:p14="http://schemas.microsoft.com/office/powerpoint/2010/main" val="740248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E149D-97E6-48BF-A019-6CF2A82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36E32-2DA1-40D2-BE35-7236290D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竞品分析：RiskLens 将可信核验补进流程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3C387-3148-4376-B351-C645B6E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DED7"/>
                </a:solidFill>
              </a:defRPr>
            </a:pPr>
            <a:r>
              <a:rPr sz="1350">
                <a:solidFill>
                  <a:srgbClr val="C9DED7"/>
                </a:solidFill>
              </a:rPr>
              <a:t>比较的是产品角色与交付方式，不对其他产品作未经验证的性能断言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7282C-65E8-4C32-A6AB-7DFC3BB2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11417-6AF0-4B85-BF0D-3B904799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CABE"/>
                </a:solidFill>
              </a:defRPr>
            </a:pPr>
            <a:r>
              <a:rPr sz="750">
                <a:solidFill>
                  <a:srgbClr val="A7CAB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94050-6F0F-4979-9851-AAC9304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C65B"/>
                </a:solidFill>
              </a:defRPr>
            </a:pPr>
            <a:r>
              <a:rPr sz="900" b="1">
                <a:solidFill>
                  <a:srgbClr val="F4C65B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3724D-6412-4263-96D2-51657E5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247900" cy="28765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9525">
            <a:solidFill>
              <a:srgbClr val="3678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748E8-67DE-448D-9ACA-0CE4A69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通用 AI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（如豆包等）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1765A-2686-4DB2-9E95-B24E348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17F36-188B-42DB-B7A7-ABDEE29D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开放式问答与文本生成</a:t>
            </a:r>
          </a:p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用户自行判断依据与适用边界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5C400-10FA-45E6-B82D-E780BC4A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47900" cy="28765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9525">
            <a:solidFill>
              <a:srgbClr val="3678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83CE4-051B-4F25-97BF-095021B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律师／法务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BD511-F57E-4DE0-A06D-9066095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AFED7-0251-4AEF-A1ED-E09FA53B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623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专业法律意见与责任</a:t>
            </a:r>
          </a:p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成本、时间与信息准备要求更高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088DA-0C69-471C-877A-3E7289B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247900" cy="28765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9525">
            <a:solidFill>
              <a:srgbClr val="367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A52E7-F609-4E8A-B99D-A7A6DF01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法律检索软件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C789E-B951-4A2A-A8A3-1E5AAC0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DCCD3-FFD7-4DB6-B5A3-EA9F2F0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查法条、查案例、查资料</a:t>
            </a:r>
          </a:p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需要用户自行综合判断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2AAB8-3A8F-45CB-90CA-1CD72AF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47900" cy="28765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B5B4D"/>
          </a:solidFill>
          <a:ln xmlns:a="http://schemas.openxmlformats.org/drawingml/2006/main" w="9525">
            <a:solidFill>
              <a:srgbClr val="E4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B08EB-F0AC-4AF8-9020-E818516C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C65B"/>
                </a:solidFill>
              </a:defRPr>
            </a:pPr>
            <a:r>
              <a:rPr sz="1800" b="1">
                <a:solidFill>
                  <a:srgbClr val="F4C65B"/>
                </a:solidFill>
              </a:rPr>
              <a:t>RiskLens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2FEF-93C4-46E0-A592-C716AA15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CD8A5-6A03-4244-9105-DABBF9B1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62375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面向普通个人的材料核验</a:t>
            </a:r>
          </a:p>
          <a:p xmlns:a="http://schemas.openxmlformats.org/drawingml/2006/main">
            <a:pPr>
              <a:defRPr sz="1200">
                <a:solidFill>
                  <a:srgbClr val="D9EBE5"/>
                </a:solidFill>
              </a:defRPr>
            </a:pPr>
            <a:r>
              <a:rPr sz="1200">
                <a:solidFill>
                  <a:srgbClr val="D9EBE5"/>
                </a:solidFill>
              </a:rPr>
              <a:t>依据定位 + 引用核验 + 边界提示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72811-3FC3-4B67-B5AA-0F3A64C9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C65B"/>
                </a:solidFill>
              </a:defRPr>
            </a:pPr>
            <a:r>
              <a:rPr sz="1575" b="1">
                <a:solidFill>
                  <a:srgbClr val="F4C65B"/>
                </a:solidFill>
              </a:rPr>
              <a:t>核心优势：把“材料—依据—风险提示—专业交接”做成普通人可使用、可回看的工作流。</a:t>
            </a:r>
          </a:p>
        </p:txBody>
      </p:sp>
    </p:spTree>
    <p:extLst>
      <p:ext uri="{BB962C8B-B14F-4D97-AF65-F5344CB8AC3E}">
        <p14:creationId xmlns:p14="http://schemas.microsoft.com/office/powerpoint/2010/main" val="1980278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D4AFA-3F0A-4914-9A75-EDA3BA4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36838-D4D6-42D8-AE72-6F853EA6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遇到的问题，不靠‘更会说’解决，而靠更强的约束与验证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A768-E4F8-4FDD-84ED-C88E672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把不确定性暴露出来，才能避免把模型输出包装成事实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EE217-D2F9-4B2D-88E1-6BE55D0A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38AEB-644F-4ACE-B493-0F48027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7AB8A-422B-4F6A-B2D4-3C8E532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D7446-28AA-48D4-BEA3-3B65CCB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594C"/>
                </a:solidFill>
              </a:defRPr>
            </a:pPr>
            <a:r>
              <a:rPr sz="1275" b="1">
                <a:solidFill>
                  <a:srgbClr val="07594C"/>
                </a:solidFill>
              </a:rPr>
              <a:t>问题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D97BD-5283-462D-B6B2-436D623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B35"/>
                </a:solidFill>
              </a:defRPr>
            </a:pPr>
            <a:r>
              <a:rPr sz="1350">
                <a:solidFill>
                  <a:srgbClr val="123B35"/>
                </a:solidFill>
              </a:rPr>
              <a:t>生成内容可能有貌似合理却无法定位的引用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ACE38-64DA-4146-BE1F-3F25CF9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8500"/>
                </a:solidFill>
              </a:defRPr>
            </a:pPr>
            <a:r>
              <a:rPr sz="1650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FD70A-090D-4B5A-9B57-BE2473C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B"/>
                </a:solidFill>
              </a:defRPr>
            </a:pPr>
            <a:r>
              <a:rPr sz="1350" b="1">
                <a:solidFill>
                  <a:srgbClr val="2E7D6B"/>
                </a:solidFill>
              </a:rPr>
              <a:t>A3 引用核验 + 未通过即过滤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46C77-0902-4C76-9B3C-C92F80A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BE77A-B48A-43E8-93C2-1E315FD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594C"/>
                </a:solidFill>
              </a:defRPr>
            </a:pPr>
            <a:r>
              <a:rPr sz="1275" b="1">
                <a:solidFill>
                  <a:srgbClr val="07594C"/>
                </a:solidFill>
              </a:rPr>
              <a:t>问题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BB490-B14F-4F82-8650-F604033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242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B35"/>
                </a:solidFill>
              </a:defRPr>
            </a:pPr>
            <a:r>
              <a:rPr sz="1350">
                <a:solidFill>
                  <a:srgbClr val="123B35"/>
                </a:solidFill>
              </a:rPr>
              <a:t>风险建议缺少逐条证据时容易越界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9BBCC-E7C3-4200-BF96-993B7E6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8500"/>
                </a:solidFill>
              </a:defRPr>
            </a:pPr>
            <a:r>
              <a:rPr sz="1650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5F357-E2AE-4E8D-9640-B1BE5C1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B"/>
                </a:solidFill>
              </a:defRPr>
            </a:pPr>
            <a:r>
              <a:rPr sz="1350" b="1">
                <a:solidFill>
                  <a:srgbClr val="2E7D6B"/>
                </a:solidFill>
              </a:rPr>
              <a:t>A4 暂停进入对外报告，先保留可审计链路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97BA1-6070-4913-AE10-80630AC4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DFED4-6055-483C-AA4B-D4751EED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594C"/>
                </a:solidFill>
              </a:defRPr>
            </a:pPr>
            <a:r>
              <a:rPr sz="1275" b="1">
                <a:solidFill>
                  <a:srgbClr val="07594C"/>
                </a:solidFill>
              </a:rPr>
              <a:t>问题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9485D-9746-4927-931B-8A71620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624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B35"/>
                </a:solidFill>
              </a:defRPr>
            </a:pPr>
            <a:r>
              <a:rPr sz="1350">
                <a:solidFill>
                  <a:srgbClr val="123B35"/>
                </a:solidFill>
              </a:rPr>
              <a:t>融资评测不能证明个人合同场景效果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E1B50-2D19-4443-A147-9CD84DAF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8500"/>
                </a:solidFill>
              </a:defRPr>
            </a:pPr>
            <a:r>
              <a:rPr sz="1650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B87A-AD3D-488E-97A9-4969D2F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B"/>
                </a:solidFill>
              </a:defRPr>
            </a:pPr>
            <a:r>
              <a:rPr sz="1350" b="1">
                <a:solidFill>
                  <a:srgbClr val="2E7D6B"/>
                </a:solidFill>
              </a:rPr>
              <a:t>个人场景采用独立评测集与独立口径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C0EBE-00BB-4D5D-A61B-55D6E08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5EC05-3D66-4AE0-9E7A-98CB262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8500"/>
                </a:solidFill>
              </a:defRPr>
            </a:pPr>
            <a:r>
              <a:rPr sz="1275" b="1">
                <a:solidFill>
                  <a:srgbClr val="E48500"/>
                </a:solidFill>
              </a:rPr>
              <a:t>问题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F8A84-DEB7-4A8F-BB0A-BED0C556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00600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3B35"/>
                </a:solidFill>
              </a:defRPr>
            </a:pPr>
            <a:r>
              <a:rPr sz="1350">
                <a:solidFill>
                  <a:srgbClr val="123B35"/>
                </a:solidFill>
              </a:rPr>
              <a:t>真实判例来源与标注不足，不能宣传准确率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D4723-5B9D-433B-BF4F-592C78B4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48500"/>
                </a:solidFill>
              </a:defRPr>
            </a:pPr>
            <a:r>
              <a:rPr sz="1650" b="1">
                <a:solidFill>
                  <a:srgbClr val="E4850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67945-1EE2-4B5F-B714-3ABAC82E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006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6B"/>
                </a:solidFill>
              </a:defRPr>
            </a:pPr>
            <a:r>
              <a:rPr sz="1350" b="1">
                <a:solidFill>
                  <a:srgbClr val="2E7D6B"/>
                </a:solidFill>
              </a:rPr>
              <a:t>建立裁判文书盲测流程，结果产生前不公布能力指标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C8F90-0BA6-42AF-A3C7-A7E90D4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8752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10CDE-CE94-44CA-8B30-8648FBC4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C65B"/>
                </a:solidFill>
              </a:defRPr>
            </a:pPr>
            <a:r>
              <a:rPr sz="1050" b="1">
                <a:solidFill>
                  <a:srgbClr val="F4C65B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64903-2938-4845-B2F0-92569D2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两条评委建议，转化为两组可核验的产品改动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BD351-B1C8-42D7-B448-351DDF5C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9DED7"/>
                </a:solidFill>
              </a:defRPr>
            </a:pPr>
            <a:r>
              <a:rPr sz="1350">
                <a:solidFill>
                  <a:srgbClr val="C9DED7"/>
                </a:solidFill>
              </a:rPr>
              <a:t>不止回应建议，更把建议写进产品机制与评测设计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593E0-D1FC-4416-9940-4A8E9D84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F0F01-EE64-45B0-A283-F8C692B1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7CABE"/>
                </a:solidFill>
              </a:defRPr>
            </a:pPr>
            <a:r>
              <a:rPr sz="750">
                <a:solidFill>
                  <a:srgbClr val="A7CAB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FAA70-CDC3-4823-AB55-4733361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C65B"/>
                </a:solidFill>
              </a:defRPr>
            </a:pPr>
            <a:r>
              <a:rPr sz="900" b="1">
                <a:solidFill>
                  <a:srgbClr val="F4C65B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65A79-D96A-4B53-87F7-630AC024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0482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7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82FA9-7965-4E09-80FB-C5D13316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D80CD-2CD1-48B4-AD63-98EC725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建议一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5B7F-A2E6-4ADE-9C8C-36050B6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B35"/>
                </a:solidFill>
              </a:defRPr>
            </a:pPr>
            <a:r>
              <a:rPr sz="2025" b="1">
                <a:solidFill>
                  <a:srgbClr val="123B35"/>
                </a:solidFill>
              </a:rPr>
              <a:t>产品边界与可信推理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BA544-0C41-44A2-A6D5-56400812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46E"/>
                </a:solidFill>
              </a:defRPr>
            </a:pPr>
            <a:r>
              <a:rPr sz="1275">
                <a:solidFill>
                  <a:srgbClr val="5F746E"/>
                </a:solidFill>
              </a:rPr>
              <a:t>明确法律“参考”与“建议”的定位及免责边界；用查询、推理、来源溯源演示可信度。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20A85-3A1B-47B2-9CAD-5988103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1AC28-9823-4B1F-8558-D9F66372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94C"/>
                </a:solidFill>
              </a:defRPr>
            </a:pPr>
            <a:r>
              <a:rPr sz="1350" b="1">
                <a:solidFill>
                  <a:srgbClr val="07594C"/>
                </a:solidFill>
              </a:rPr>
              <a:t>对应改动：来源回链 · A3 引用核验 · 越权结果拦截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2F611-E260-4229-883C-D2A0CF70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53340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B5045"/>
          </a:solidFill>
          <a:ln xmlns:a="http://schemas.openxmlformats.org/drawingml/2006/main" w="9525">
            <a:solidFill>
              <a:srgbClr val="3A7A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5EDF5-1232-40D0-A2C3-9CCC19A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42E3D-8458-4078-9D34-966FA8C1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建议二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E9977-2772-46D1-B7A9-603A560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聚焦场景与量化评测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E79DE-CD1F-4564-A40D-C5B4218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E9E3"/>
                </a:solidFill>
              </a:defRPr>
            </a:pPr>
            <a:r>
              <a:rPr sz="1275">
                <a:solidFill>
                  <a:srgbClr val="D8E9E3"/>
                </a:solidFill>
              </a:rPr>
              <a:t>收敛至高频任务；对照人工专家、传统检索／RAG 与产品，公布核心指标。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33519-8CC8-4A95-BCBA-B406B47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1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D1DEB-C9B6-4BA7-BC84-0A53265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65B"/>
                </a:solidFill>
              </a:defRPr>
            </a:pPr>
            <a:r>
              <a:rPr sz="1350" b="1">
                <a:solidFill>
                  <a:srgbClr val="F4C65B"/>
                </a:solidFill>
              </a:rPr>
              <a:t>对应改动：租赁优先 · 独立评测集 · 盲测与人工复核</a:t>
            </a:r>
          </a:p>
        </p:txBody>
      </p:sp>
    </p:spTree>
    <p:extLst>
      <p:ext uri="{BB962C8B-B14F-4D97-AF65-F5344CB8AC3E}">
        <p14:creationId xmlns:p14="http://schemas.microsoft.com/office/powerpoint/2010/main" val="16743654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939ABF-F70C-4D06-8F68-7C611FC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594C"/>
                </a:solidFill>
              </a:defRPr>
            </a:pPr>
            <a:r>
              <a:rPr sz="1050" b="1">
                <a:solidFill>
                  <a:srgbClr val="07594C"/>
                </a:solidFill>
              </a:rPr>
              <a:t>金睛 RiskLens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F6A5B-0306-455A-BA9B-FBAAF66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B35"/>
                </a:solidFill>
              </a:defRPr>
            </a:pPr>
            <a:r>
              <a:rPr sz="2925" b="1">
                <a:solidFill>
                  <a:srgbClr val="123B35"/>
                </a:solidFill>
              </a:rPr>
              <a:t>裁判文书网盲测：先把规则锁定，再讨论结果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987C8-5E53-42EB-84E9-6CE7113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46E"/>
                </a:solidFill>
              </a:defRPr>
            </a:pPr>
            <a:r>
              <a:rPr sz="1350">
                <a:solidFill>
                  <a:srgbClr val="5F746E"/>
                </a:solidFill>
              </a:rPr>
              <a:t>当前状态：盲测尚未执行；本页是避免选择性展示的预注册式设计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37625-A5A6-46F4-B462-86C37250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F55E4-6CFC-4B4A-90A2-BBA35AD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746E"/>
                </a:solidFill>
              </a:defRPr>
            </a:pPr>
            <a:r>
              <a:rPr sz="750">
                <a:solidFill>
                  <a:srgbClr val="5F746E"/>
                </a:solidFill>
              </a:rPr>
              <a:t>金睛 RiskLens｜可信风险分析答辩材料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879A1-1899-402B-8503-EA75C3B2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46E"/>
                </a:solidFill>
              </a:defRPr>
            </a:pPr>
            <a:r>
              <a:rPr sz="900" b="1">
                <a:solidFill>
                  <a:srgbClr val="5F746E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246EA-6C4D-4DA8-9808-C69E6EA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47850" cy="20955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D4E5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12B0B-80A5-407E-BC5D-624BEE4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594C"/>
                </a:solidFill>
              </a:defRPr>
            </a:pPr>
            <a:r>
              <a:rPr sz="1125" b="1">
                <a:solidFill>
                  <a:srgbClr val="07594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69152-29EE-4D20-8021-75E8F253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样本冻结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CD69C-D3F7-4867-BF7B-716B3D75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746E"/>
                </a:solidFill>
              </a:defRPr>
            </a:pPr>
            <a:r>
              <a:rPr sz="1050">
                <a:solidFill>
                  <a:srgbClr val="5F746E"/>
                </a:solidFill>
              </a:rPr>
              <a:t>按租赁合同争议筛选公开裁判文书；脱敏并隐藏裁判结果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C6234-528B-4773-A929-2A75750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847850" cy="20955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D4E5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3D496-3A98-406B-BECC-AC3087A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594C"/>
                </a:solidFill>
              </a:defRPr>
            </a:pPr>
            <a:r>
              <a:rPr sz="1125" b="1">
                <a:solidFill>
                  <a:srgbClr val="07594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04059-95E8-4E19-A05F-9AA8B3B3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标准答案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0EA25-3DC5-4B79-BBE8-CFD27539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746E"/>
                </a:solidFill>
              </a:defRPr>
            </a:pPr>
            <a:r>
              <a:rPr sz="1050">
                <a:solidFill>
                  <a:srgbClr val="5F746E"/>
                </a:solidFill>
              </a:rPr>
              <a:t>由判决要点、引用规则与人工标注共同形成金标准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5A0CF-7A3D-4772-ABD9-C05AB797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847850" cy="20955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D4E5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74366-73CE-408C-B5CD-9EB9EC19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9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594C"/>
                </a:solidFill>
              </a:defRPr>
            </a:pPr>
            <a:r>
              <a:rPr sz="1125" b="1">
                <a:solidFill>
                  <a:srgbClr val="07594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1FE4-613A-4DF1-97BF-ABCBBEF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三组对照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1800-DBEE-402E-B573-0BF2AFF4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67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746E"/>
                </a:solidFill>
              </a:defRPr>
            </a:pPr>
            <a:r>
              <a:rPr sz="1050">
                <a:solidFill>
                  <a:srgbClr val="5F746E"/>
                </a:solidFill>
              </a:rPr>
              <a:t>人工专家｜传统检索／RAG｜RiskLens，使用同一材料与时间窗口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F1D54-CB71-4BDC-AF47-5DC8D5C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1847850" cy="20955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48500"/>
          </a:solidFill>
          <a:ln xmlns:a="http://schemas.openxmlformats.org/drawingml/2006/main" w="9525">
            <a:solidFill>
              <a:srgbClr val="E4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533BC-4913-4780-9A2C-1A6CBEA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9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9AC50-9393-44CB-AB4A-C0DF6525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统一评分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E687E-24DB-46E6-8BFF-DAD3EAB3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法规召回率、错误引用率、重大风险漏检率、证据定位正确性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5D358-1A7A-469E-936E-5F73A30F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847850" cy="20955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FF6F2"/>
          </a:solidFill>
          <a:ln xmlns:a="http://schemas.openxmlformats.org/drawingml/2006/main" w="9525">
            <a:solidFill>
              <a:srgbClr val="D4E5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E419A-AB0E-4647-8DEE-520EB5B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9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594C"/>
                </a:solidFill>
              </a:defRPr>
            </a:pPr>
            <a:r>
              <a:rPr sz="1125" b="1">
                <a:solidFill>
                  <a:srgbClr val="07594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0F4A5-E3B4-4263-A1C6-DC5F07DF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99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35"/>
                </a:solidFill>
              </a:defRPr>
            </a:pPr>
            <a:r>
              <a:rPr sz="1575" b="1">
                <a:solidFill>
                  <a:srgbClr val="123B35"/>
                </a:solidFill>
              </a:rPr>
              <a:t>复核发布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0B4ED-9426-4D01-95FD-2AADA208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67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746E"/>
                </a:solidFill>
              </a:defRPr>
            </a:pPr>
            <a:r>
              <a:rPr sz="1050">
                <a:solidFill>
                  <a:srgbClr val="5F746E"/>
                </a:solidFill>
              </a:rPr>
              <a:t>双盲评分；分歧进入复核；保留样本、版本与评分记录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011E7-94E0-44DF-9562-B008A494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35"/>
                </a:solidFill>
              </a:defRPr>
            </a:pPr>
            <a:r>
              <a:rPr sz="1725" b="1">
                <a:solidFill>
                  <a:srgbClr val="123B35"/>
                </a:solidFill>
              </a:rPr>
              <a:t>不展示未做出来的分数；先公开样本规则、评测版本与评分方法。</a:t>
            </a:r>
          </a:p>
        </p:txBody>
      </p:sp>
    </p:spTree>
    <p:extLst>
      <p:ext uri="{BB962C8B-B14F-4D97-AF65-F5344CB8AC3E}">
        <p14:creationId xmlns:p14="http://schemas.microsoft.com/office/powerpoint/2010/main" val="17925442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5F0FC-42AB-467E-AF16-4B6498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71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B89C-C330-4D0D-9FDD-A7963CFE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C65B"/>
                </a:solidFill>
              </a:defRPr>
            </a:pPr>
            <a:r>
              <a:rPr sz="1200" b="1">
                <a:solidFill>
                  <a:srgbClr val="F4C65B"/>
                </a:solidFill>
              </a:rPr>
              <a:t>金睛 RiskLens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DBCAB-3A9E-4625-954A-B589B79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让法律类 AI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更可用，也更可信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2F50F-DA6A-4CB6-88D5-E2936F7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B15E5-A6FE-46C9-82EE-66919AC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BE2D9"/>
                </a:solidFill>
              </a:defRPr>
            </a:pPr>
            <a:r>
              <a:rPr sz="1500">
                <a:solidFill>
                  <a:srgbClr val="CBE2D9"/>
                </a:solidFill>
              </a:rPr>
              <a:t>普通人看得懂的风险提示，必须经得起来源、边界与验证的检查。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04FCE-2E43-4A05-96F3-1784F90A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812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5146"/>
          </a:solidFill>
          <a:ln xmlns:a="http://schemas.openxmlformats.org/drawingml/2006/main" w="9525">
            <a:solidFill>
              <a:srgbClr val="3A7E7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4936C-D94D-4EFF-B24C-33E4DF1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C65B"/>
                </a:solidFill>
              </a:defRPr>
            </a:pPr>
            <a:r>
              <a:rPr sz="1875" b="1">
                <a:solidFill>
                  <a:srgbClr val="F4C65B"/>
                </a:solidFill>
              </a:rPr>
              <a:t>可信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0D653-E760-4E2C-A929-4AA361D5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可查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58258-6487-4892-BF36-AC9D1EF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4C65B"/>
                </a:solidFill>
              </a:defRPr>
            </a:pPr>
            <a:r>
              <a:rPr sz="1875" b="1">
                <a:solidFill>
                  <a:srgbClr val="F4C65B"/>
                </a:solidFill>
              </a:rPr>
              <a:t>可交接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0BF5E-5934-4FCE-BB45-45DE549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B6A9"/>
                </a:solidFill>
              </a:defRPr>
            </a:pPr>
            <a:r>
              <a:rPr sz="900">
                <a:solidFill>
                  <a:srgbClr val="8AB6A9"/>
                </a:solidFill>
              </a:rPr>
              <a:t>答辩演示材料｜真实截图｜离线 HTML 演示</a:t>
            </a:r>
          </a:p>
        </p:txBody>
      </p:sp>
    </p:spTree>
    <p:extLst>
      <p:ext uri="{BB962C8B-B14F-4D97-AF65-F5344CB8AC3E}">
        <p14:creationId xmlns:p14="http://schemas.microsoft.com/office/powerpoint/2010/main" val="114311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2026-08-31T16:34:24.0090000Z</dcterms:created>
  <dcterms:modified xsi:type="dcterms:W3CDTF">2026-08-31T16:34:24.0090000Z</dcterms:modified>
</coreProperties>
</file>